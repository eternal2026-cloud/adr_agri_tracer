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ld Haya" userId="3f67ec7c-8ccf-4d49-b2d4-fdc7c00ad78c" providerId="ADAL" clId="{3DA3148C-DF57-4206-881A-11B85C05400E}"/>
    <pc:docChg chg="custSel delSld modSld">
      <pc:chgData name="Ronald Haya" userId="3f67ec7c-8ccf-4d49-b2d4-fdc7c00ad78c" providerId="ADAL" clId="{3DA3148C-DF57-4206-881A-11B85C05400E}" dt="2026-09-28T18:32:02.373" v="174" actId="20577"/>
      <pc:docMkLst>
        <pc:docMk/>
      </pc:docMkLst>
      <pc:sldChg chg="modSp mod">
        <pc:chgData name="Ronald Haya" userId="3f67ec7c-8ccf-4d49-b2d4-fdc7c00ad78c" providerId="ADAL" clId="{3DA3148C-DF57-4206-881A-11B85C05400E}" dt="2026-09-28T18:30:42.306" v="155" actId="20577"/>
        <pc:sldMkLst>
          <pc:docMk/>
          <pc:sldMk cId="0" sldId="256"/>
        </pc:sldMkLst>
        <pc:spChg chg="mod">
          <ac:chgData name="Ronald Haya" userId="3f67ec7c-8ccf-4d49-b2d4-fdc7c00ad78c" providerId="ADAL" clId="{3DA3148C-DF57-4206-881A-11B85C05400E}" dt="2026-09-28T18:30:42.306" v="155" actId="20577"/>
          <ac:spMkLst>
            <pc:docMk/>
            <pc:sldMk cId="0" sldId="256"/>
            <ac:spMk id="15" creationId="{00000000-0000-0000-0000-000000000000}"/>
          </ac:spMkLst>
        </pc:spChg>
      </pc:sldChg>
      <pc:sldChg chg="modSp mod">
        <pc:chgData name="Ronald Haya" userId="3f67ec7c-8ccf-4d49-b2d4-fdc7c00ad78c" providerId="ADAL" clId="{3DA3148C-DF57-4206-881A-11B85C05400E}" dt="2026-09-28T18:04:25.969" v="61" actId="20577"/>
        <pc:sldMkLst>
          <pc:docMk/>
          <pc:sldMk cId="0" sldId="258"/>
        </pc:sldMkLst>
        <pc:spChg chg="mod">
          <ac:chgData name="Ronald Haya" userId="3f67ec7c-8ccf-4d49-b2d4-fdc7c00ad78c" providerId="ADAL" clId="{3DA3148C-DF57-4206-881A-11B85C05400E}" dt="2026-09-28T18:04:25.969" v="61" actId="20577"/>
          <ac:spMkLst>
            <pc:docMk/>
            <pc:sldMk cId="0" sldId="258"/>
            <ac:spMk id="31" creationId="{00000000-0000-0000-0000-000000000000}"/>
          </ac:spMkLst>
        </pc:spChg>
      </pc:sldChg>
      <pc:sldChg chg="modSp mod">
        <pc:chgData name="Ronald Haya" userId="3f67ec7c-8ccf-4d49-b2d4-fdc7c00ad78c" providerId="ADAL" clId="{3DA3148C-DF57-4206-881A-11B85C05400E}" dt="2026-09-28T18:31:11.918" v="156" actId="2164"/>
        <pc:sldMkLst>
          <pc:docMk/>
          <pc:sldMk cId="0" sldId="260"/>
        </pc:sldMkLst>
        <pc:graphicFrameChg chg="modGraphic">
          <ac:chgData name="Ronald Haya" userId="3f67ec7c-8ccf-4d49-b2d4-fdc7c00ad78c" providerId="ADAL" clId="{3DA3148C-DF57-4206-881A-11B85C05400E}" dt="2026-09-28T18:31:11.918" v="156" actId="2164"/>
          <ac:graphicFrameMkLst>
            <pc:docMk/>
            <pc:sldMk cId="0" sldId="260"/>
            <ac:graphicFrameMk id="50" creationId="{00000000-0000-0000-0000-000000000000}"/>
          </ac:graphicFrameMkLst>
        </pc:graphicFrameChg>
      </pc:sldChg>
      <pc:sldChg chg="del">
        <pc:chgData name="Ronald Haya" userId="3f67ec7c-8ccf-4d49-b2d4-fdc7c00ad78c" providerId="ADAL" clId="{3DA3148C-DF57-4206-881A-11B85C05400E}" dt="2026-09-28T18:04:48.841" v="62" actId="47"/>
        <pc:sldMkLst>
          <pc:docMk/>
          <pc:sldMk cId="0" sldId="264"/>
        </pc:sldMkLst>
      </pc:sldChg>
      <pc:sldChg chg="modSp mod">
        <pc:chgData name="Ronald Haya" userId="3f67ec7c-8ccf-4d49-b2d4-fdc7c00ad78c" providerId="ADAL" clId="{3DA3148C-DF57-4206-881A-11B85C05400E}" dt="2026-09-28T18:32:02.373" v="174" actId="20577"/>
        <pc:sldMkLst>
          <pc:docMk/>
          <pc:sldMk cId="0" sldId="265"/>
        </pc:sldMkLst>
        <pc:spChg chg="mod">
          <ac:chgData name="Ronald Haya" userId="3f67ec7c-8ccf-4d49-b2d4-fdc7c00ad78c" providerId="ADAL" clId="{3DA3148C-DF57-4206-881A-11B85C05400E}" dt="2026-09-28T18:32:02.373" v="174" actId="20577"/>
          <ac:spMkLst>
            <pc:docMk/>
            <pc:sldMk cId="0" sldId="265"/>
            <ac:spMk id="73" creationId="{00000000-0000-0000-0000-000000000000}"/>
          </ac:spMkLst>
        </pc:spChg>
      </pc:sldChg>
      <pc:sldChg chg="delSp modSp mod">
        <pc:chgData name="Ronald Haya" userId="3f67ec7c-8ccf-4d49-b2d4-fdc7c00ad78c" providerId="ADAL" clId="{3DA3148C-DF57-4206-881A-11B85C05400E}" dt="2026-09-28T18:05:10.235" v="70" actId="478"/>
        <pc:sldMkLst>
          <pc:docMk/>
          <pc:sldMk cId="0" sldId="267"/>
        </pc:sldMkLst>
        <pc:spChg chg="del">
          <ac:chgData name="Ronald Haya" userId="3f67ec7c-8ccf-4d49-b2d4-fdc7c00ad78c" providerId="ADAL" clId="{3DA3148C-DF57-4206-881A-11B85C05400E}" dt="2026-09-28T18:04:58.266" v="63" actId="478"/>
          <ac:spMkLst>
            <pc:docMk/>
            <pc:sldMk cId="0" sldId="267"/>
            <ac:spMk id="41" creationId="{00000000-0000-0000-0000-000000000000}"/>
          </ac:spMkLst>
        </pc:spChg>
        <pc:spChg chg="del">
          <ac:chgData name="Ronald Haya" userId="3f67ec7c-8ccf-4d49-b2d4-fdc7c00ad78c" providerId="ADAL" clId="{3DA3148C-DF57-4206-881A-11B85C05400E}" dt="2026-09-28T18:05:10.235" v="70" actId="478"/>
          <ac:spMkLst>
            <pc:docMk/>
            <pc:sldMk cId="0" sldId="267"/>
            <ac:spMk id="42" creationId="{00000000-0000-0000-0000-000000000000}"/>
          </ac:spMkLst>
        </pc:spChg>
        <pc:spChg chg="del">
          <ac:chgData name="Ronald Haya" userId="3f67ec7c-8ccf-4d49-b2d4-fdc7c00ad78c" providerId="ADAL" clId="{3DA3148C-DF57-4206-881A-11B85C05400E}" dt="2026-09-28T18:05:07.031" v="67" actId="478"/>
          <ac:spMkLst>
            <pc:docMk/>
            <pc:sldMk cId="0" sldId="267"/>
            <ac:spMk id="43" creationId="{00000000-0000-0000-0000-000000000000}"/>
          </ac:spMkLst>
        </pc:spChg>
        <pc:spChg chg="del mod">
          <ac:chgData name="Ronald Haya" userId="3f67ec7c-8ccf-4d49-b2d4-fdc7c00ad78c" providerId="ADAL" clId="{3DA3148C-DF57-4206-881A-11B85C05400E}" dt="2026-09-28T18:05:05.875" v="66" actId="478"/>
          <ac:spMkLst>
            <pc:docMk/>
            <pc:sldMk cId="0" sldId="267"/>
            <ac:spMk id="44" creationId="{00000000-0000-0000-0000-000000000000}"/>
          </ac:spMkLst>
        </pc:spChg>
        <pc:spChg chg="del">
          <ac:chgData name="Ronald Haya" userId="3f67ec7c-8ccf-4d49-b2d4-fdc7c00ad78c" providerId="ADAL" clId="{3DA3148C-DF57-4206-881A-11B85C05400E}" dt="2026-09-28T18:05:09.083" v="69" actId="478"/>
          <ac:spMkLst>
            <pc:docMk/>
            <pc:sldMk cId="0" sldId="267"/>
            <ac:spMk id="45" creationId="{00000000-0000-0000-0000-000000000000}"/>
          </ac:spMkLst>
        </pc:spChg>
        <pc:spChg chg="del">
          <ac:chgData name="Ronald Haya" userId="3f67ec7c-8ccf-4d49-b2d4-fdc7c00ad78c" providerId="ADAL" clId="{3DA3148C-DF57-4206-881A-11B85C05400E}" dt="2026-09-28T18:05:08.144" v="68" actId="478"/>
          <ac:spMkLst>
            <pc:docMk/>
            <pc:sldMk cId="0" sldId="267"/>
            <ac:spMk id="46" creationId="{00000000-0000-0000-0000-000000000000}"/>
          </ac:spMkLst>
        </pc:spChg>
        <pc:spChg chg="del">
          <ac:chgData name="Ronald Haya" userId="3f67ec7c-8ccf-4d49-b2d4-fdc7c00ad78c" providerId="ADAL" clId="{3DA3148C-DF57-4206-881A-11B85C05400E}" dt="2026-09-28T18:05:03.854" v="64" actId="478"/>
          <ac:spMkLst>
            <pc:docMk/>
            <pc:sldMk cId="0" sldId="267"/>
            <ac:spMk id="47" creationId="{00000000-0000-0000-0000-000000000000}"/>
          </ac:spMkLst>
        </pc:spChg>
      </pc:sldChg>
      <pc:sldChg chg="addSp delSp modSp mod">
        <pc:chgData name="Ronald Haya" userId="3f67ec7c-8ccf-4d49-b2d4-fdc7c00ad78c" providerId="ADAL" clId="{3DA3148C-DF57-4206-881A-11B85C05400E}" dt="2026-09-28T18:07:39.899" v="151" actId="478"/>
        <pc:sldMkLst>
          <pc:docMk/>
          <pc:sldMk cId="0" sldId="268"/>
        </pc:sldMkLst>
        <pc:spChg chg="add del mod">
          <ac:chgData name="Ronald Haya" userId="3f67ec7c-8ccf-4d49-b2d4-fdc7c00ad78c" providerId="ADAL" clId="{3DA3148C-DF57-4206-881A-11B85C05400E}" dt="2026-09-28T18:07:39.899" v="151" actId="478"/>
          <ac:spMkLst>
            <pc:docMk/>
            <pc:sldMk cId="0" sldId="268"/>
            <ac:spMk id="10" creationId="{95C9A3E8-B54C-241E-A114-D4EBCF918EE3}"/>
          </ac:spMkLst>
        </pc:spChg>
      </pc:sldChg>
      <pc:sldChg chg="modSp mod">
        <pc:chgData name="Ronald Haya" userId="3f67ec7c-8ccf-4d49-b2d4-fdc7c00ad78c" providerId="ADAL" clId="{3DA3148C-DF57-4206-881A-11B85C05400E}" dt="2026-09-28T18:06:21.126" v="141" actId="20577"/>
        <pc:sldMkLst>
          <pc:docMk/>
          <pc:sldMk cId="0" sldId="269"/>
        </pc:sldMkLst>
        <pc:spChg chg="mod">
          <ac:chgData name="Ronald Haya" userId="3f67ec7c-8ccf-4d49-b2d4-fdc7c00ad78c" providerId="ADAL" clId="{3DA3148C-DF57-4206-881A-11B85C05400E}" dt="2026-09-28T18:06:21.126" v="141" actId="20577"/>
          <ac:spMkLst>
            <pc:docMk/>
            <pc:sldMk cId="0" sldId="269"/>
            <ac:spMk id="2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PDC - Producción Arándano</c:v>
                </c:pt>
              </c:strCache>
            </c:strRef>
          </c:tx>
          <c:spPr>
            <a:ln w="25400" cap="flat">
              <a:solidFill>
                <a:srgbClr val="76B72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6B729"/>
              </a:solidFill>
              <a:ln w="9525" cap="flat">
                <a:solidFill>
                  <a:srgbClr val="76B729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Atención y trato</c:v>
                </c:pt>
                <c:pt idx="1">
                  <c:v>Tiempo de respuesta</c:v>
                </c:pt>
                <c:pt idx="2">
                  <c:v>Comunicación</c:v>
                </c:pt>
                <c:pt idx="3">
                  <c:v>Calidad de servicio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92.5</c:v>
                </c:pt>
                <c:pt idx="1">
                  <c:v>75</c:v>
                </c:pt>
                <c:pt idx="2">
                  <c:v>92.5</c:v>
                </c:pt>
                <c:pt idx="3">
                  <c:v>92.5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C1-4E92-87A8-CF9F3EB88A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B2420"/>
                </a:solidFill>
                <a:latin typeface="Segoe UI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DA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7D70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399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Este instructivo explica el módulo Satisfacción del cliente interno de la app Integra. Cada participante recibe su usuario de Ingeniería de Procesos.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objetivo: medir cómo percibe cada área el servicio que recibe de otras. Los 4 criterios agrupan las 10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administrador asigna a cada usuario: su área (fija), las áreas que puede evaluar y las plantas. La base de datos hace cumplir estas reglas.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Ingreso con usuario y contraseña. La primera vez la app obliga a crear una contraseña propia.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módulo tiene pestañas en la barra inferior. Los administradores ven además la pestaña Evaluadores.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del asistente: 4 pasos. Un paso queda con check verde cuando está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generales. El área evaluadora es fija para usuarios no administradores; el sistema no permite evaluar la propia área.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textos completos de los 10 ítems están en la app. La escala va de Totalmente en desacuerdo a Totalmente de acuerdo.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sugerencias son obligatorias. Cada ítem con desacuerdo exige su mejora; también se agrega como línea en Aspectos a mejorar.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registro necesita conexión. Tocar Registrar varias veces no duplica la encuesta. Solo el administrador puede anular.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Resultados: el puntaje ponderado es el promedio de las encuestas del área evaluada. La presentación descargada es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Problemas frecuentes y a quién acudir.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repasar los 4 pasos y el contacto de soporte.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rhaya@adr.com.p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rhaya@adr.com.p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 Drive - Ronald Haya\OneDrive - AGRICOLA DON RICARDO\Escritorio\ADR\1.- Agritracer_Power_Apps\SITIO_AGRITRACER\img\fond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08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743200"/>
            <a:ext cx="12191695" cy="4114800"/>
          </a:xfrm>
          <a:prstGeom prst="rect">
            <a:avLst/>
          </a:prstGeom>
          <a:solidFill>
            <a:srgbClr val="0B0908">
              <a:alpha val="8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685800"/>
            <a:ext cx="548640" cy="54864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6" name="Shape 3"/>
          <p:cNvSpPr/>
          <p:nvPr/>
        </p:nvSpPr>
        <p:spPr>
          <a:xfrm>
            <a:off x="1097280" y="824789"/>
            <a:ext cx="409651" cy="409651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7" name="Shape 4"/>
          <p:cNvSpPr/>
          <p:nvPr/>
        </p:nvSpPr>
        <p:spPr>
          <a:xfrm>
            <a:off x="1463040" y="960120"/>
            <a:ext cx="548640" cy="54864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240280" y="65836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 RICARDO</a:t>
            </a:r>
            <a:endParaRPr lang="en-US" sz="2000" dirty="0"/>
          </a:p>
          <a:p>
            <a:pPr marL="0" indent="0">
              <a:buNone/>
            </a:pPr>
            <a:r>
              <a:rPr lang="en-US" sz="900" kern="0" spc="500" dirty="0">
                <a:solidFill>
                  <a:srgbClr val="E8DC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A FRUTURA COMPANY –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500" dirty="0">
                <a:solidFill>
                  <a:srgbClr val="FFD2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INGENIERÍA DE PROCESOS · INSTRUCTIVO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3375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Encuesta de satisfacción</a:t>
            </a:r>
            <a:endParaRPr lang="en-US" sz="46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 cliente interno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846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FE6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paso a paso para jefaturas y evaluadores: cómo ingresar a Integra, llenar la encuesta desde el celular y consultar los resultados de tu área.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5715000"/>
            <a:ext cx="868680" cy="64008"/>
          </a:xfrm>
          <a:prstGeom prst="rect">
            <a:avLst/>
          </a:prstGeom>
          <a:solidFill>
            <a:srgbClr val="0097CE"/>
          </a:solidFill>
          <a:ln/>
        </p:spPr>
      </p:sp>
      <p:sp>
        <p:nvSpPr>
          <p:cNvPr id="13" name="Shape 10"/>
          <p:cNvSpPr/>
          <p:nvPr/>
        </p:nvSpPr>
        <p:spPr>
          <a:xfrm>
            <a:off x="1691640" y="5715000"/>
            <a:ext cx="868680" cy="64008"/>
          </a:xfrm>
          <a:prstGeom prst="rect">
            <a:avLst/>
          </a:prstGeom>
          <a:solidFill>
            <a:srgbClr val="EF7C3B"/>
          </a:solidFill>
          <a:ln/>
        </p:spPr>
      </p:sp>
      <p:sp>
        <p:nvSpPr>
          <p:cNvPr id="14" name="Shape 11"/>
          <p:cNvSpPr/>
          <p:nvPr/>
        </p:nvSpPr>
        <p:spPr>
          <a:xfrm>
            <a:off x="2560320" y="5715000"/>
            <a:ext cx="868680" cy="64008"/>
          </a:xfrm>
          <a:prstGeom prst="rect">
            <a:avLst/>
          </a:prstGeom>
          <a:solidFill>
            <a:srgbClr val="76B72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5943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 err="1">
                <a:solidFill>
                  <a:srgbClr val="D8CC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</a:t>
            </a:r>
            <a:r>
              <a:rPr lang="en-US" sz="1000" dirty="0">
                <a:solidFill>
                  <a:srgbClr val="D8CC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web</a:t>
            </a:r>
            <a:endParaRPr lang="en-US" sz="100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331720" y="5943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CC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</a:t>
            </a:r>
            <a:endParaRPr lang="en-US" sz="100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Satisfacción del cliente interno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0" y="5943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CC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Dirigido a</a:t>
            </a:r>
            <a:endParaRPr lang="en-US" sz="100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Jefaturas y evaluadores de cada área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5943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CC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Fecha</a:t>
            </a:r>
            <a:endParaRPr lang="en-US" sz="100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Septiembre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¿Para qué sirve la encuesta?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área evalúa el servicio que recibe de otra área. Así medimos la satisfacción del cliente interno y definimos mejoras.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60014" y="6446520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5" name="Shape 3"/>
          <p:cNvSpPr/>
          <p:nvPr/>
        </p:nvSpPr>
        <p:spPr>
          <a:xfrm>
            <a:off x="637266" y="6491424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6" name="Shape 4"/>
          <p:cNvSpPr/>
          <p:nvPr/>
        </p:nvSpPr>
        <p:spPr>
          <a:xfrm>
            <a:off x="755435" y="6535146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· Encuesta de satisfacción cliente interno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2487168" cy="1965960"/>
          </a:xfrm>
          <a:prstGeom prst="roundRect">
            <a:avLst>
              <a:gd name="adj" fmla="val 5581"/>
            </a:avLst>
          </a:prstGeom>
          <a:solidFill>
            <a:srgbClr val="FAF6F1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103120"/>
            <a:ext cx="420624" cy="420624"/>
          </a:xfrm>
          <a:prstGeom prst="ellipse">
            <a:avLst/>
          </a:prstGeom>
          <a:solidFill>
            <a:srgbClr val="0097C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65176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97C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Tu área recibe un servicio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01752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ejemplo, Producción recibe información de PCP o apoyo de Mantenimiento.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35808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46704" y="1874520"/>
            <a:ext cx="2487168" cy="1965960"/>
          </a:xfrm>
          <a:prstGeom prst="roundRect">
            <a:avLst>
              <a:gd name="adj" fmla="val 5581"/>
            </a:avLst>
          </a:prstGeom>
          <a:solidFill>
            <a:srgbClr val="FAF6F1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75304" y="2103120"/>
            <a:ext cx="420624" cy="420624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75304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75304" y="265176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6B72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Registras la encuesta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575304" y="301752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Desde el celular, en Integra: 10 preguntas y 3 sugerencias.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33872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144768" y="1874520"/>
            <a:ext cx="2487168" cy="1965960"/>
          </a:xfrm>
          <a:prstGeom prst="roundRect">
            <a:avLst>
              <a:gd name="adj" fmla="val 5581"/>
            </a:avLst>
          </a:prstGeom>
          <a:solidFill>
            <a:srgbClr val="FAF6F1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3368" y="2103120"/>
            <a:ext cx="420624" cy="420624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73368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73368" y="265176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F7C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Resultado automático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73368" y="301752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instante: puntaje total y puntaje por criterio.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31936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942832" y="1874520"/>
            <a:ext cx="2487168" cy="1965960"/>
          </a:xfrm>
          <a:prstGeom prst="roundRect">
            <a:avLst>
              <a:gd name="adj" fmla="val 5581"/>
            </a:avLst>
          </a:prstGeom>
          <a:solidFill>
            <a:srgbClr val="FAF6F1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71432" y="2103120"/>
            <a:ext cx="420624" cy="420624"/>
          </a:xfrm>
          <a:prstGeom prst="ellipse">
            <a:avLst/>
          </a:prstGeom>
          <a:solidFill>
            <a:srgbClr val="5D483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7143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71432" y="265176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D48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 analizan los resultados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171432" y="301752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área y planta, en pantalla, en la presentación y en Power BI.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D48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 evalúan 4 criterios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8640" y="452628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" y="4800600"/>
            <a:ext cx="310896" cy="310896"/>
          </a:xfrm>
          <a:prstGeom prst="ellipse">
            <a:avLst/>
          </a:prstGeom>
          <a:solidFill>
            <a:srgbClr val="0097C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207008" y="46177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Atención y trato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Ítems 1 y 2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3346704" y="452628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47872" y="4800600"/>
            <a:ext cx="310896" cy="310896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005072" y="46177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Tiempo de respuesta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Ítems 3 y 4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144768" y="452628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45936" y="4800600"/>
            <a:ext cx="310896" cy="310896"/>
          </a:xfrm>
          <a:prstGeom prst="ellipse">
            <a:avLst/>
          </a:prstGeom>
          <a:solidFill>
            <a:srgbClr val="9085E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03136" y="46177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Comunicación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Ítems 5 y 6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942832" y="452628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0" y="4800600"/>
            <a:ext cx="310896" cy="310896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601200" y="46177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Calidad de servicio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Ítems 7 al 10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548640" y="5559552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EAF6FB"/>
          </a:solidFill>
          <a:ln w="9525">
            <a:solidFill>
              <a:srgbClr val="B5DDE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31520" y="5687568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0A6F9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IMPORTANTE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731520" y="5943600"/>
            <a:ext cx="10725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 pensando en el servicio real de los últimos meses. La encuesta no califica a personas: sirve para que cada área sepa qué mejorar.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Antes de empezar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Ingeniería de Procesos deja todo listo para ti. Solo necesitas tu usuario y un celular o computadora con internet.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60014" y="6446520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5" name="Shape 3"/>
          <p:cNvSpPr/>
          <p:nvPr/>
        </p:nvSpPr>
        <p:spPr>
          <a:xfrm>
            <a:off x="637266" y="6491424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6" name="Shape 4"/>
          <p:cNvSpPr/>
          <p:nvPr/>
        </p:nvSpPr>
        <p:spPr>
          <a:xfrm>
            <a:off x="755435" y="6535146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· Encuesta de satisfacción cliente interno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AF6F1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938528"/>
            <a:ext cx="420624" cy="420624"/>
          </a:xfrm>
          <a:prstGeom prst="ellipse">
            <a:avLst/>
          </a:prstGeom>
          <a:solidFill>
            <a:srgbClr val="0097C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19385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Tu usuario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lo entrega Ingeniería de Procesos, junto con una contraseña temporal.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401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Ejemplo: juan.perez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7373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AF6F1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1938528"/>
            <a:ext cx="420624" cy="420624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2628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19385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Tu área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 está asignada a tu usuario. Es el «área evaluadora» de todas tus encuestas y no se cambia.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3401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Ejemplo: Producción Arándano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17373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AF6F1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1938528"/>
            <a:ext cx="420624" cy="420624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7532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823960" y="19385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Qué puedes evaluar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verás las áreas y plantas que te asignaron. Tu propia área no aparece: nadie se evalúa a sí mismo.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401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Ejemplo: PCP, Mantenimiento · planta PDC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69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D48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Qué ves según tu tipo de usuario</a:t>
            </a:r>
            <a:endParaRPr 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6766560" cy="84734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Tipo de usuario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8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Resultados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8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Encuesta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8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Uso habitual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8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Captura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C7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C7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Jefaturas y evaluadores que responden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Solo consulta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C7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C0B3A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Personas que solo revisan resultados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7635240" y="4023360"/>
            <a:ext cx="4005072" cy="1325880"/>
          </a:xfrm>
          <a:prstGeom prst="roundRect">
            <a:avLst>
              <a:gd name="adj" fmla="val 6897"/>
            </a:avLst>
          </a:prstGeom>
          <a:solidFill>
            <a:srgbClr val="FDF1E8"/>
          </a:solidFill>
          <a:ln w="9525">
            <a:solidFill>
              <a:srgbClr val="F3C6A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818120" y="4151376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B945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¿ALGO NO CUADRA?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7818120" y="4407408"/>
            <a:ext cx="36393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tu área, las áreas que debes evaluar o tu planta no son las correctas, no lo corrijas por tu cuenta: </a:t>
            </a:r>
            <a:r>
              <a:rPr lang="en-US" sz="1200" dirty="0">
                <a:solidFill>
                  <a:srgbClr val="2B2420"/>
                </a:solidFill>
                <a:latin typeface="Segoe UI" pitchFamily="34" charset="0"/>
                <a:cs typeface="Segoe UI" pitchFamily="34" charset="-120"/>
                <a:hlinkClick r:id="rId3"/>
              </a:rPr>
              <a:t>rhaya@adr.com.pe</a:t>
            </a:r>
            <a:endParaRPr lang="en-US" sz="1200" dirty="0">
              <a:solidFill>
                <a:srgbClr val="2B2420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 err="1">
                <a:solidFill>
                  <a:srgbClr val="2B2420"/>
                </a:solidFill>
                <a:latin typeface="Segoe UI" pitchFamily="34" charset="0"/>
                <a:cs typeface="Segoe UI" pitchFamily="34" charset="-120"/>
              </a:rPr>
              <a:t>Analista</a:t>
            </a:r>
            <a:r>
              <a:rPr lang="en-US" sz="1200" dirty="0">
                <a:solidFill>
                  <a:srgbClr val="2B2420"/>
                </a:solidFill>
                <a:latin typeface="Segoe UI" pitchFamily="34" charset="0"/>
                <a:cs typeface="Segoe UI" pitchFamily="34" charset="-120"/>
              </a:rPr>
              <a:t> de </a:t>
            </a:r>
            <a:r>
              <a:rPr lang="en-US" sz="1200" dirty="0" err="1">
                <a:solidFill>
                  <a:srgbClr val="2B2420"/>
                </a:solidFill>
                <a:latin typeface="Segoe UI" pitchFamily="34" charset="0"/>
                <a:cs typeface="Segoe UI" pitchFamily="34" charset="-120"/>
              </a:rPr>
              <a:t>Gestión</a:t>
            </a:r>
            <a:r>
              <a:rPr lang="en-US" sz="1200" dirty="0">
                <a:solidFill>
                  <a:srgbClr val="2B2420"/>
                </a:solidFill>
                <a:latin typeface="Segoe UI" pitchFamily="34" charset="0"/>
                <a:cs typeface="Segoe UI" pitchFamily="34" charset="-120"/>
              </a:rPr>
              <a:t> de </a:t>
            </a:r>
            <a:r>
              <a:rPr lang="en-US" sz="1200" dirty="0" err="1">
                <a:solidFill>
                  <a:srgbClr val="2B2420"/>
                </a:solidFill>
                <a:latin typeface="Segoe UI" pitchFamily="34" charset="0"/>
                <a:cs typeface="Segoe UI" pitchFamily="34" charset="-120"/>
              </a:rPr>
              <a:t>Procesos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EAF6FB"/>
          </a:solidFill>
          <a:ln w="9525">
            <a:solidFill>
              <a:srgbClr val="B5DDE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1520" y="5614416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0A6F9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SIN INSTALAR NADA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731520" y="5870448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funciona en el navegador del celular o de la computadora. Solo necesitas internet para ingresar y registrar.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08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Ingresa a Integra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Abre el enlace de Integra en el navegador del celular (Chrome o Safari) o de la computadora.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0014" y="6446520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7" name="Shape 5"/>
          <p:cNvSpPr/>
          <p:nvPr/>
        </p:nvSpPr>
        <p:spPr>
          <a:xfrm>
            <a:off x="637266" y="6491424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8" name="Shape 6"/>
          <p:cNvSpPr/>
          <p:nvPr/>
        </p:nvSpPr>
        <p:spPr>
          <a:xfrm>
            <a:off x="755435" y="6535146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· Encuesta de satisfacción cliente interno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1463040"/>
            <a:ext cx="2743200" cy="4754880"/>
          </a:xfrm>
          <a:prstGeom prst="roundRect">
            <a:avLst>
              <a:gd name="adj" fmla="val 11333"/>
            </a:avLst>
          </a:prstGeom>
          <a:solidFill>
            <a:srgbClr val="0E0C0A"/>
          </a:solidFill>
          <a:ln w="9525">
            <a:solidFill>
              <a:srgbClr val="3A30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1545336"/>
            <a:ext cx="2578608" cy="4590288"/>
          </a:xfrm>
          <a:prstGeom prst="roundRect">
            <a:avLst>
              <a:gd name="adj" fmla="val 9220"/>
            </a:avLst>
          </a:prstGeom>
          <a:solidFill>
            <a:srgbClr val="15110E"/>
          </a:solidFill>
          <a:ln/>
        </p:spPr>
      </p:sp>
      <p:sp>
        <p:nvSpPr>
          <p:cNvPr id="13" name="Shape 11"/>
          <p:cNvSpPr/>
          <p:nvPr/>
        </p:nvSpPr>
        <p:spPr>
          <a:xfrm>
            <a:off x="990366" y="1709928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7618" y="1754832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5787" y="1798554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16" name="Shape 14"/>
          <p:cNvSpPr/>
          <p:nvPr/>
        </p:nvSpPr>
        <p:spPr>
          <a:xfrm>
            <a:off x="2423160" y="1664208"/>
            <a:ext cx="886968" cy="256032"/>
          </a:xfrm>
          <a:prstGeom prst="roundRect">
            <a:avLst>
              <a:gd name="adj" fmla="val 50000"/>
            </a:avLst>
          </a:prstGeom>
          <a:solidFill>
            <a:srgbClr val="15110E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05456" y="1760220"/>
            <a:ext cx="64008" cy="64008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606040" y="16642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05256" y="2057400"/>
            <a:ext cx="2578608" cy="0"/>
          </a:xfrm>
          <a:prstGeom prst="line">
            <a:avLst/>
          </a:prstGeom>
          <a:noFill/>
          <a:ln w="9525">
            <a:solidFill>
              <a:srgbClr val="2C24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2286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INGRESO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7F2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Bienvenido a Integra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761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Ingresa con el usuario que te entregó Ingeniería de Procesos.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1089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051560" y="329184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0F0C0A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4300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juan.perez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6393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Contraseña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51560" y="3822192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0F0C0A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43000" y="3822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••••••••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51560" y="4261104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EF7C3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51560" y="42611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Ingresar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0" y="3291840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004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3822192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0040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4288536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00400" y="4288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51560" y="4764024"/>
            <a:ext cx="2286000" cy="1325880"/>
          </a:xfrm>
          <a:prstGeom prst="roundRect">
            <a:avLst>
              <a:gd name="adj" fmla="val 6897"/>
            </a:avLst>
          </a:prstGeom>
          <a:solidFill>
            <a:srgbClr val="221B16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161288" y="483717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B7E2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¡Bienvenido! Crea tu propia contraseña antes de continuar.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161288" y="5193792"/>
            <a:ext cx="2066544" cy="237744"/>
          </a:xfrm>
          <a:prstGeom prst="roundRect">
            <a:avLst>
              <a:gd name="adj" fmla="val 19231"/>
            </a:avLst>
          </a:prstGeom>
          <a:solidFill>
            <a:srgbClr val="0F0C0A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234440" y="51937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Nueva contraseña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161288" y="5522976"/>
            <a:ext cx="2066544" cy="256032"/>
          </a:xfrm>
          <a:prstGeom prst="roundRect">
            <a:avLst>
              <a:gd name="adj" fmla="val 28571"/>
            </a:avLst>
          </a:prstGeom>
          <a:solidFill>
            <a:srgbClr val="76B72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161288" y="552297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10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Guardar contraseña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0" y="4901184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200400" y="4901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97680" y="1618488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297680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800600" y="16002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Usuario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Escríbelo tal cual te lo dieron, en minúsculas (ej. juan.perez).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297680" y="2532888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2976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800600" y="25146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Contraseña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primera vez es la temporal que te entregaron.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4297680" y="3447288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297680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4800600" y="34290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Ingresar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Toca el botón para entrar.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4297680" y="4361688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297680" y="4361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4800600" y="43434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Solo la primera vez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app te pide crear tu propia contraseña (mínimo 6 caracteres). Escríbela dos veces y guárdala.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8458200" y="160020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F2F8EA"/>
          </a:solidFill>
          <a:ln w="9525">
            <a:solidFill>
              <a:srgbClr val="C9E2A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641080" y="17282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C7A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TIP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8641080" y="1984248"/>
            <a:ext cx="28346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celular, usa «Agregar a la pantalla de inicio» del navegador: Integra queda como un ícono más y la abres de un toque.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458200" y="342900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FDF1E8"/>
          </a:solidFill>
          <a:ln w="9525">
            <a:solidFill>
              <a:srgbClr val="F3C6A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641080" y="35570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B945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CUIDA TU ACCESO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8641080" y="3813048"/>
            <a:ext cx="28346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 usuario firma tus encuestas. No lo compartas. Si olvidas la contraseña, pide una nueva a Ingeniería de Procesos.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08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Abre el módulo Satisfacción del cliente interno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 pantalla de inicio, baja hasta el grupo «Gestión de Procesos».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0014" y="6446520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7" name="Shape 5"/>
          <p:cNvSpPr/>
          <p:nvPr/>
        </p:nvSpPr>
        <p:spPr>
          <a:xfrm>
            <a:off x="637266" y="6491424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8" name="Shape 6"/>
          <p:cNvSpPr/>
          <p:nvPr/>
        </p:nvSpPr>
        <p:spPr>
          <a:xfrm>
            <a:off x="755435" y="6535146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· Encuesta de satisfacción cliente interno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1463040"/>
            <a:ext cx="2743200" cy="4754880"/>
          </a:xfrm>
          <a:prstGeom prst="roundRect">
            <a:avLst>
              <a:gd name="adj" fmla="val 11333"/>
            </a:avLst>
          </a:prstGeom>
          <a:solidFill>
            <a:srgbClr val="0E0C0A"/>
          </a:solidFill>
          <a:ln w="9525">
            <a:solidFill>
              <a:srgbClr val="3A30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1545336"/>
            <a:ext cx="2578608" cy="4590288"/>
          </a:xfrm>
          <a:prstGeom prst="roundRect">
            <a:avLst>
              <a:gd name="adj" fmla="val 9220"/>
            </a:avLst>
          </a:prstGeom>
          <a:solidFill>
            <a:srgbClr val="15110E"/>
          </a:solidFill>
          <a:ln/>
        </p:spPr>
      </p:sp>
      <p:sp>
        <p:nvSpPr>
          <p:cNvPr id="13" name="Shape 11"/>
          <p:cNvSpPr/>
          <p:nvPr/>
        </p:nvSpPr>
        <p:spPr>
          <a:xfrm>
            <a:off x="990366" y="1709928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7618" y="1754832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5787" y="1798554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16" name="Shape 14"/>
          <p:cNvSpPr/>
          <p:nvPr/>
        </p:nvSpPr>
        <p:spPr>
          <a:xfrm>
            <a:off x="2423160" y="1664208"/>
            <a:ext cx="886968" cy="256032"/>
          </a:xfrm>
          <a:prstGeom prst="roundRect">
            <a:avLst>
              <a:gd name="adj" fmla="val 50000"/>
            </a:avLst>
          </a:prstGeom>
          <a:solidFill>
            <a:srgbClr val="15110E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05456" y="1760220"/>
            <a:ext cx="64008" cy="64008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606040" y="16642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juan.perez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05256" y="2057400"/>
            <a:ext cx="2578608" cy="0"/>
          </a:xfrm>
          <a:prstGeom prst="line">
            <a:avLst/>
          </a:prstGeom>
          <a:noFill/>
          <a:ln w="9525">
            <a:solidFill>
              <a:srgbClr val="2C24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2286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PROCESOS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5S, mantenimiento y cliente interno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051560" y="2834640"/>
            <a:ext cx="2286000" cy="585216"/>
          </a:xfrm>
          <a:prstGeom prst="roundRect">
            <a:avLst>
              <a:gd name="adj" fmla="val 12500"/>
            </a:avLst>
          </a:prstGeom>
          <a:solidFill>
            <a:srgbClr val="221B16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296265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D962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563624" y="2889504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7F2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Auditoría 5S</a:t>
            </a:r>
            <a:endParaRPr lang="en-US" sz="750" dirty="0"/>
          </a:p>
          <a:p>
            <a:pPr marL="0" indent="0">
              <a:buNone/>
            </a:pPr>
            <a:r>
              <a:rPr lang="en-US" sz="63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 por zona y seguimiento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051560" y="3547872"/>
            <a:ext cx="2286000" cy="585216"/>
          </a:xfrm>
          <a:prstGeom prst="roundRect">
            <a:avLst>
              <a:gd name="adj" fmla="val 12500"/>
            </a:avLst>
          </a:prstGeom>
          <a:solidFill>
            <a:srgbClr val="221B16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" y="367588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563624" y="3602736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7F2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Revisión plan de mantenimiento</a:t>
            </a:r>
            <a:endParaRPr lang="en-US" sz="750" dirty="0"/>
          </a:p>
          <a:p>
            <a:pPr marL="0" indent="0">
              <a:buNone/>
            </a:pPr>
            <a:r>
              <a:rPr lang="en-US" sz="63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 por encargado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51560" y="4261104"/>
            <a:ext cx="2286000" cy="585216"/>
          </a:xfrm>
          <a:prstGeom prst="roundRect">
            <a:avLst>
              <a:gd name="adj" fmla="val 12500"/>
            </a:avLst>
          </a:prstGeom>
          <a:solidFill>
            <a:srgbClr val="2A2119"/>
          </a:solidFill>
          <a:ln w="9525">
            <a:solidFill>
              <a:srgbClr val="76B72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43891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76B72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563624" y="431596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7F2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Satisfacción del cliente interno</a:t>
            </a:r>
            <a:endParaRPr lang="en-US" sz="750" dirty="0"/>
          </a:p>
          <a:p>
            <a:pPr marL="0" indent="0">
              <a:buNone/>
            </a:pPr>
            <a:r>
              <a:rPr lang="en-US" sz="63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Encuestas por área y planta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0" y="4215384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00400" y="4215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5256" y="5468112"/>
            <a:ext cx="2578608" cy="0"/>
          </a:xfrm>
          <a:prstGeom prst="line">
            <a:avLst/>
          </a:prstGeom>
          <a:noFill/>
          <a:ln w="9525">
            <a:solidFill>
              <a:srgbClr val="2C241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50264" y="5559552"/>
            <a:ext cx="164592" cy="164592"/>
          </a:xfrm>
          <a:prstGeom prst="ellipse">
            <a:avLst/>
          </a:prstGeom>
          <a:solidFill>
            <a:srgbClr val="0097C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51560" y="5742432"/>
            <a:ext cx="76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</a:t>
            </a:r>
            <a:endParaRPr lang="en-US" sz="630" dirty="0"/>
          </a:p>
        </p:txBody>
      </p:sp>
      <p:sp>
        <p:nvSpPr>
          <p:cNvPr id="36" name="Shape 34"/>
          <p:cNvSpPr/>
          <p:nvPr/>
        </p:nvSpPr>
        <p:spPr>
          <a:xfrm>
            <a:off x="2112264" y="5559552"/>
            <a:ext cx="164592" cy="164592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813560" y="5742432"/>
            <a:ext cx="76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Encuesta</a:t>
            </a:r>
            <a:endParaRPr lang="en-US" sz="630" dirty="0"/>
          </a:p>
        </p:txBody>
      </p:sp>
      <p:sp>
        <p:nvSpPr>
          <p:cNvPr id="38" name="Shape 36"/>
          <p:cNvSpPr/>
          <p:nvPr/>
        </p:nvSpPr>
        <p:spPr>
          <a:xfrm>
            <a:off x="2874264" y="5559552"/>
            <a:ext cx="164592" cy="164592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575560" y="5742432"/>
            <a:ext cx="76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Cargar hist.</a:t>
            </a:r>
            <a:endParaRPr lang="en-US" sz="630" dirty="0"/>
          </a:p>
        </p:txBody>
      </p:sp>
      <p:sp>
        <p:nvSpPr>
          <p:cNvPr id="40" name="Shape 38"/>
          <p:cNvSpPr/>
          <p:nvPr/>
        </p:nvSpPr>
        <p:spPr>
          <a:xfrm>
            <a:off x="3200400" y="5513832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200400" y="5513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51937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Barra inferior del módulo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297680" y="1618488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297680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800600" y="16002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Toca la tarjeta verde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«Satisfacción del cliente interno».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297680" y="2532888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2976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4800600" y="25146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Usa la barra de abajo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moverte entre las pestañas del módulo.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429768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D48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Pestañas del módulo</a:t>
            </a:r>
            <a:endParaRPr lang="en-US" sz="15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851090"/>
              </p:ext>
            </p:extLst>
          </p:nvPr>
        </p:nvGraphicFramePr>
        <p:xfrm>
          <a:off x="4297680" y="4023360"/>
          <a:ext cx="7360920" cy="119786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Pestaña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8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¿Para qué?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8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¿Quién la ve?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8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97CE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Resultados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 los puntajes por área, planta y criterio; descargar la presentación.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Todos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7A1A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Encuesta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Registrar una encuesta nueva (se explica en las siguientes diapositivas).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Usuarios de captura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08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 encuesta en 4 pasos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 pestaña Encuesta, un asistente te guía. Toca «Continuar» para avanzar; la app no deja pasar si falta algo.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0014" y="6446520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7" name="Shape 5"/>
          <p:cNvSpPr/>
          <p:nvPr/>
        </p:nvSpPr>
        <p:spPr>
          <a:xfrm>
            <a:off x="637266" y="6491424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8" name="Shape 6"/>
          <p:cNvSpPr/>
          <p:nvPr/>
        </p:nvSpPr>
        <p:spPr>
          <a:xfrm>
            <a:off x="755435" y="6535146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· Encuesta de satisfacción cliente interno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08760" y="1737360"/>
            <a:ext cx="685800" cy="685800"/>
          </a:xfrm>
          <a:prstGeom prst="ellipse">
            <a:avLst/>
          </a:prstGeom>
          <a:solidFill>
            <a:srgbClr val="0097C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50876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331720" y="2080260"/>
            <a:ext cx="1874520" cy="0"/>
          </a:xfrm>
          <a:prstGeom prst="line">
            <a:avLst/>
          </a:prstGeom>
          <a:noFill/>
          <a:ln w="25400">
            <a:solidFill>
              <a:srgbClr val="E4DAD0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548640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Datos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9443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Cultivo, campaña, fecha, área a evaluar y planta.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1737360"/>
            <a:ext cx="685800" cy="685800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4340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66360" y="2080260"/>
            <a:ext cx="1874520" cy="0"/>
          </a:xfrm>
          <a:prstGeom prst="line">
            <a:avLst/>
          </a:prstGeom>
          <a:noFill/>
          <a:ln w="25400">
            <a:solidFill>
              <a:srgbClr val="E4DAD0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3383280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Evaluación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29443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 una opción en cada uno de los 10 ítems.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78040" y="1737360"/>
            <a:ext cx="685800" cy="685800"/>
          </a:xfrm>
          <a:prstGeom prst="ellipse">
            <a:avLst/>
          </a:prstGeom>
          <a:solidFill>
            <a:srgbClr val="9085E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7804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001000" y="2080260"/>
            <a:ext cx="1874520" cy="0"/>
          </a:xfrm>
          <a:prstGeom prst="line">
            <a:avLst/>
          </a:prstGeom>
          <a:noFill/>
          <a:ln w="25400">
            <a:solidFill>
              <a:srgbClr val="E4DAD0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6217920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Sugerencias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29443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preguntas abiertas y la mejora de cada ítem en desacuerdo.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012680" y="1737360"/>
            <a:ext cx="685800" cy="685800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01268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Resumen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29443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 el resultado y toca «Registrar encuesta».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AF6FB"/>
          </a:solidFill>
          <a:ln w="9525">
            <a:solidFill>
              <a:srgbClr val="B5DD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405993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0A6F9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MARCADOR ARRIBA A LA DERECHA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4315968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Mientras respondes, el recuadro muestra el resultado parcial (ej. 89,0 %) y cuántos ítems llevas (ej. 10/10).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97680" y="39319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2F8EA"/>
          </a:solidFill>
          <a:ln w="9525">
            <a:solidFill>
              <a:srgbClr val="C9E2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80560" y="405993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C7A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TU AVANCE NO SE PIERDE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480560" y="4315968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encuesta queda guardada como borrador en tu celular. Si se corta la señal o cierras la app, al volver sigues donde te quedaste.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46720" y="39319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DF1E8"/>
          </a:solidFill>
          <a:ln w="9525">
            <a:solidFill>
              <a:srgbClr val="F3C6A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0" y="405993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B945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«DESCARTAR BORRADOR»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4315968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Borra todo lo que llenaste y empieza de cero. Úsalo solo si de verdad quieres anular esa encuesta.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También puedes tocar los círculos numerados de arriba para volver a un paso anterior.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0097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08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Paso 1 · Datos generales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Quién evalúa, a qué área y cuándo. Varios campos ya vienen llenos.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0014" y="6446520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7" name="Shape 5"/>
          <p:cNvSpPr/>
          <p:nvPr/>
        </p:nvSpPr>
        <p:spPr>
          <a:xfrm>
            <a:off x="637266" y="6491424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8" name="Shape 6"/>
          <p:cNvSpPr/>
          <p:nvPr/>
        </p:nvSpPr>
        <p:spPr>
          <a:xfrm>
            <a:off x="755435" y="6535146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· Encuesta de satisfacción cliente interno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1463040"/>
            <a:ext cx="2743200" cy="4754880"/>
          </a:xfrm>
          <a:prstGeom prst="roundRect">
            <a:avLst>
              <a:gd name="adj" fmla="val 11333"/>
            </a:avLst>
          </a:prstGeom>
          <a:solidFill>
            <a:srgbClr val="0E0C0A"/>
          </a:solidFill>
          <a:ln w="9525">
            <a:solidFill>
              <a:srgbClr val="3A30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1545336"/>
            <a:ext cx="2578608" cy="4590288"/>
          </a:xfrm>
          <a:prstGeom prst="roundRect">
            <a:avLst>
              <a:gd name="adj" fmla="val 9220"/>
            </a:avLst>
          </a:prstGeom>
          <a:solidFill>
            <a:srgbClr val="15110E"/>
          </a:solidFill>
          <a:ln/>
        </p:spPr>
      </p:sp>
      <p:sp>
        <p:nvSpPr>
          <p:cNvPr id="13" name="Shape 11"/>
          <p:cNvSpPr/>
          <p:nvPr/>
        </p:nvSpPr>
        <p:spPr>
          <a:xfrm>
            <a:off x="990366" y="1709928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7618" y="1754832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5787" y="1798554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16" name="Shape 14"/>
          <p:cNvSpPr/>
          <p:nvPr/>
        </p:nvSpPr>
        <p:spPr>
          <a:xfrm>
            <a:off x="2423160" y="1664208"/>
            <a:ext cx="886968" cy="256032"/>
          </a:xfrm>
          <a:prstGeom prst="roundRect">
            <a:avLst>
              <a:gd name="adj" fmla="val 50000"/>
            </a:avLst>
          </a:prstGeom>
          <a:solidFill>
            <a:srgbClr val="15110E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05456" y="1760220"/>
            <a:ext cx="64008" cy="64008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606040" y="16642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juan.perez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05256" y="2057400"/>
            <a:ext cx="2578608" cy="0"/>
          </a:xfrm>
          <a:prstGeom prst="line">
            <a:avLst/>
          </a:prstGeom>
          <a:noFill/>
          <a:ln w="9525">
            <a:solidFill>
              <a:srgbClr val="2C24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22128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INTERNO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7F2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Nueva encuesta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2194560"/>
            <a:ext cx="777240" cy="420624"/>
          </a:xfrm>
          <a:prstGeom prst="roundRect">
            <a:avLst>
              <a:gd name="adj" fmla="val 17391"/>
            </a:avLst>
          </a:prstGeom>
          <a:solidFill>
            <a:srgbClr val="221B16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60320" y="222199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2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0,0 %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243230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0/10 ítems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1209294" y="2761488"/>
            <a:ext cx="256032" cy="256032"/>
          </a:xfrm>
          <a:prstGeom prst="ellipse">
            <a:avLst/>
          </a:prstGeom>
          <a:solidFill>
            <a:srgbClr val="241D18"/>
          </a:solidFill>
          <a:ln w="22225">
            <a:solidFill>
              <a:srgbClr val="EF7C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09294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035808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7F2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1780794" y="2761488"/>
            <a:ext cx="256032" cy="256032"/>
          </a:xfrm>
          <a:prstGeom prst="ellipse">
            <a:avLst/>
          </a:prstGeom>
          <a:solidFill>
            <a:srgbClr val="241D18"/>
          </a:solidFill>
          <a:ln w="12700">
            <a:solidFill>
              <a:srgbClr val="43382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780794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9A8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1623060" y="3035808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Evaluación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2352294" y="2761488"/>
            <a:ext cx="256032" cy="256032"/>
          </a:xfrm>
          <a:prstGeom prst="ellipse">
            <a:avLst/>
          </a:prstGeom>
          <a:solidFill>
            <a:srgbClr val="241D18"/>
          </a:solidFill>
          <a:ln w="12700">
            <a:solidFill>
              <a:srgbClr val="43382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52294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9A8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2194560" y="3035808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923794" y="2761488"/>
            <a:ext cx="256032" cy="256032"/>
          </a:xfrm>
          <a:prstGeom prst="ellipse">
            <a:avLst/>
          </a:prstGeom>
          <a:solidFill>
            <a:srgbClr val="241D18"/>
          </a:solidFill>
          <a:ln w="12700">
            <a:solidFill>
              <a:srgbClr val="4338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923794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9A8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2766060" y="3035808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</a:t>
            </a:r>
            <a:endParaRPr lang="en-US" sz="6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2918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Cultivo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051560" y="3474720"/>
            <a:ext cx="1088136" cy="274320"/>
          </a:xfrm>
          <a:prstGeom prst="roundRect">
            <a:avLst>
              <a:gd name="adj" fmla="val 20000"/>
            </a:avLst>
          </a:prstGeom>
          <a:solidFill>
            <a:srgbClr val="0F0C0A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143000" y="347472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Arándano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2249424" y="329184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Campaña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249424" y="3474720"/>
            <a:ext cx="1088136" cy="274320"/>
          </a:xfrm>
          <a:prstGeom prst="roundRect">
            <a:avLst>
              <a:gd name="adj" fmla="val 20000"/>
            </a:avLst>
          </a:prstGeom>
          <a:solidFill>
            <a:srgbClr val="0F0C0A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340864" y="347472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Arándano 2026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3822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Área a evaluar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051560" y="4005072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0F0C0A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43000" y="4005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PCP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1051560" y="43525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Área evaluadora (tu área)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51560" y="4535424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C1714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143000" y="4535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Producción Arándano  🔒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1051560" y="48828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Planta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051560" y="5065776"/>
            <a:ext cx="1088136" cy="274320"/>
          </a:xfrm>
          <a:prstGeom prst="roundRect">
            <a:avLst>
              <a:gd name="adj" fmla="val 20000"/>
            </a:avLst>
          </a:prstGeom>
          <a:solidFill>
            <a:srgbClr val="0F0C0A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143000" y="5065776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PDC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2249424" y="488289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Fecha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249424" y="5065776"/>
            <a:ext cx="1088136" cy="274320"/>
          </a:xfrm>
          <a:prstGeom prst="roundRect">
            <a:avLst>
              <a:gd name="adj" fmla="val 20000"/>
            </a:avLst>
          </a:prstGeom>
          <a:solidFill>
            <a:srgbClr val="0F0C0A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340864" y="5065776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23/09/2026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1051560" y="5413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Cargo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051560" y="5596128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2A2119"/>
          </a:solidFill>
          <a:ln w="9525">
            <a:solidFill>
              <a:srgbClr val="76B72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51560" y="55961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Jefe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1472184" y="5596128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15110E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472184" y="55961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Coordinador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2167128" y="5596128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15110E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167128" y="559612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Analista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2715768" y="5596128"/>
            <a:ext cx="621792" cy="219456"/>
          </a:xfrm>
          <a:prstGeom prst="roundRect">
            <a:avLst>
              <a:gd name="adj" fmla="val 50000"/>
            </a:avLst>
          </a:prstGeom>
          <a:solidFill>
            <a:srgbClr val="15110E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715768" y="5596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Supervisor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3200400" y="3429000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20040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200400" y="3977640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20040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0" y="4507992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200400" y="4507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200400" y="5038344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200400" y="5038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200400" y="5751576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200400" y="5751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600200"/>
          <a:ext cx="7498080" cy="2228088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8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Campo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8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Qué hacer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8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Cultivo y campaña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Elige el cultivo. La campaña se llena sola («Arándano 2026»); cámbiala solo si corresponde a otra.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2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Área a evaluar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Elige el área que vas a calificar. Solo aparecen las que te asignaron.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3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Área evaluadora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 tu área. Viene fija y bloqueada: no necesitas tocarla.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4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Planta y fecha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Planta donde trabajas (PDC Don Carlos, PLM Los Molinos, PYA Yancay). La fecha es la de hoy; no acepta fechas futuras.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5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Cargo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Toca tu cargo: Jefe, Coordinador, Analista o Supervisor. Tu nombre como evaluador ya viene lleno.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5" name="Shape 72"/>
          <p:cNvSpPr/>
          <p:nvPr/>
        </p:nvSpPr>
        <p:spPr>
          <a:xfrm>
            <a:off x="4160520" y="4114800"/>
            <a:ext cx="7498080" cy="960120"/>
          </a:xfrm>
          <a:prstGeom prst="roundRect">
            <a:avLst>
              <a:gd name="adj" fmla="val 9524"/>
            </a:avLst>
          </a:prstGeom>
          <a:solidFill>
            <a:srgbClr val="EAF6FB"/>
          </a:solidFill>
          <a:ln w="9525">
            <a:solidFill>
              <a:srgbClr val="B5DDEE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4343400" y="424281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0A6F9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 QUÉ IMPORTA LA PLANTA</a:t>
            </a:r>
            <a:endParaRPr lang="en-US" sz="950" dirty="0"/>
          </a:p>
        </p:txBody>
      </p:sp>
      <p:sp>
        <p:nvSpPr>
          <p:cNvPr id="77" name="Text 74"/>
          <p:cNvSpPr txBox="1"/>
          <p:nvPr/>
        </p:nvSpPr>
        <p:spPr>
          <a:xfrm>
            <a:off x="4343400" y="4498848"/>
            <a:ext cx="7132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resultados se separan por planta y área: por ejemplo, «PDC - Producción Arándano». Así cada planta ve su propia evaluación en la presentación.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4160520" y="5257800"/>
            <a:ext cx="7498080" cy="960120"/>
          </a:xfrm>
          <a:prstGeom prst="roundRect">
            <a:avLst>
              <a:gd name="adj" fmla="val 9524"/>
            </a:avLst>
          </a:prstGeom>
          <a:solidFill>
            <a:srgbClr val="F2F8EA"/>
          </a:solidFill>
          <a:ln w="9525">
            <a:solidFill>
              <a:srgbClr val="C9E2A8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343400" y="538581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C7A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 TERMINAR</a:t>
            </a:r>
            <a:endParaRPr lang="en-US" sz="950" dirty="0"/>
          </a:p>
        </p:txBody>
      </p:sp>
      <p:sp>
        <p:nvSpPr>
          <p:cNvPr id="80" name="Text 77"/>
          <p:cNvSpPr txBox="1"/>
          <p:nvPr/>
        </p:nvSpPr>
        <p:spPr>
          <a:xfrm>
            <a:off x="4343400" y="5641848"/>
            <a:ext cx="7132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Toca «Continuar» al final de la pantalla. Si aparece un mensaje rojo «Falta: …», completa lo que indica y vuelve a tocarlo.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08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Paso 2 · Evaluación del servicio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 cada afirmación y marca qué tan de acuerdo estás. Hay que responder los 10 ítems.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0014" y="6446520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7" name="Shape 5"/>
          <p:cNvSpPr/>
          <p:nvPr/>
        </p:nvSpPr>
        <p:spPr>
          <a:xfrm>
            <a:off x="637266" y="6491424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8" name="Shape 6"/>
          <p:cNvSpPr/>
          <p:nvPr/>
        </p:nvSpPr>
        <p:spPr>
          <a:xfrm>
            <a:off x="755435" y="6535146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· Encuesta de satisfacción cliente interno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1463040"/>
            <a:ext cx="2743200" cy="4754880"/>
          </a:xfrm>
          <a:prstGeom prst="roundRect">
            <a:avLst>
              <a:gd name="adj" fmla="val 11333"/>
            </a:avLst>
          </a:prstGeom>
          <a:solidFill>
            <a:srgbClr val="0E0C0A"/>
          </a:solidFill>
          <a:ln w="9525">
            <a:solidFill>
              <a:srgbClr val="3A30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1545336"/>
            <a:ext cx="2578608" cy="4590288"/>
          </a:xfrm>
          <a:prstGeom prst="roundRect">
            <a:avLst>
              <a:gd name="adj" fmla="val 9220"/>
            </a:avLst>
          </a:prstGeom>
          <a:solidFill>
            <a:srgbClr val="15110E"/>
          </a:solidFill>
          <a:ln/>
        </p:spPr>
      </p:sp>
      <p:sp>
        <p:nvSpPr>
          <p:cNvPr id="13" name="Shape 11"/>
          <p:cNvSpPr/>
          <p:nvPr/>
        </p:nvSpPr>
        <p:spPr>
          <a:xfrm>
            <a:off x="990366" y="1709928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7618" y="1754832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5787" y="1798554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16" name="Shape 14"/>
          <p:cNvSpPr/>
          <p:nvPr/>
        </p:nvSpPr>
        <p:spPr>
          <a:xfrm>
            <a:off x="2423160" y="1664208"/>
            <a:ext cx="886968" cy="256032"/>
          </a:xfrm>
          <a:prstGeom prst="roundRect">
            <a:avLst>
              <a:gd name="adj" fmla="val 50000"/>
            </a:avLst>
          </a:prstGeom>
          <a:solidFill>
            <a:srgbClr val="15110E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05456" y="1760220"/>
            <a:ext cx="64008" cy="64008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606040" y="16642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juan.perez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05256" y="2057400"/>
            <a:ext cx="2578608" cy="0"/>
          </a:xfrm>
          <a:prstGeom prst="line">
            <a:avLst/>
          </a:prstGeom>
          <a:noFill/>
          <a:ln w="9525">
            <a:solidFill>
              <a:srgbClr val="2C24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22128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INTERNO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7F2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Nueva encuesta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2194560"/>
            <a:ext cx="777240" cy="420624"/>
          </a:xfrm>
          <a:prstGeom prst="roundRect">
            <a:avLst>
              <a:gd name="adj" fmla="val 17391"/>
            </a:avLst>
          </a:prstGeom>
          <a:solidFill>
            <a:srgbClr val="221B16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60320" y="222199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2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18,5 %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243230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2/10 ítems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1209294" y="2761488"/>
            <a:ext cx="256032" cy="256032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09294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410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035808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1780794" y="2761488"/>
            <a:ext cx="256032" cy="256032"/>
          </a:xfrm>
          <a:prstGeom prst="ellipse">
            <a:avLst/>
          </a:prstGeom>
          <a:solidFill>
            <a:srgbClr val="241D18"/>
          </a:solidFill>
          <a:ln w="22225">
            <a:solidFill>
              <a:srgbClr val="EF7C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780794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1623060" y="3035808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7F2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Evaluación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2352294" y="2761488"/>
            <a:ext cx="256032" cy="256032"/>
          </a:xfrm>
          <a:prstGeom prst="ellipse">
            <a:avLst/>
          </a:prstGeom>
          <a:solidFill>
            <a:srgbClr val="241D18"/>
          </a:solidFill>
          <a:ln w="12700">
            <a:solidFill>
              <a:srgbClr val="43382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52294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9A8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2194560" y="3035808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923794" y="2761488"/>
            <a:ext cx="256032" cy="256032"/>
          </a:xfrm>
          <a:prstGeom prst="ellipse">
            <a:avLst/>
          </a:prstGeom>
          <a:solidFill>
            <a:srgbClr val="241D18"/>
          </a:solidFill>
          <a:ln w="12700">
            <a:solidFill>
              <a:srgbClr val="4338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923794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9A8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2766060" y="3035808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</a:t>
            </a:r>
            <a:endParaRPr lang="en-US" sz="6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kern="0" spc="200" dirty="0">
                <a:solidFill>
                  <a:srgbClr val="EF7C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ATENCIÓN Y TRATO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1051560" y="3520440"/>
            <a:ext cx="2286000" cy="1261872"/>
          </a:xfrm>
          <a:prstGeom prst="roundRect">
            <a:avLst>
              <a:gd name="adj" fmla="val 5797"/>
            </a:avLst>
          </a:prstGeom>
          <a:solidFill>
            <a:srgbClr val="1D1713"/>
          </a:solidFill>
          <a:ln w="9525">
            <a:solidFill>
              <a:srgbClr val="4C7A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43000" y="3611880"/>
            <a:ext cx="219456" cy="219456"/>
          </a:xfrm>
          <a:prstGeom prst="ellipse">
            <a:avLst/>
          </a:prstGeom>
          <a:solidFill>
            <a:srgbClr val="3B3129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143000" y="3611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1435608" y="357530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personal del área brinda un trato cordial, respetuoso y tiene disposición para ayudar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1143000" y="4032504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15110E"/>
          </a:solidFill>
          <a:ln w="9525">
            <a:solidFill>
              <a:srgbClr val="43382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143000" y="40325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Totalmente en desacuerdo</a:t>
            </a:r>
            <a:endParaRPr lang="en-US" sz="58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4%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2240280" y="4032504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15110E"/>
          </a:solidFill>
          <a:ln w="9525">
            <a:solidFill>
              <a:srgbClr val="43382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240280" y="40325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desacuerdo</a:t>
            </a:r>
            <a:endParaRPr lang="en-US" sz="58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6,5%</a:t>
            </a:r>
            <a:endParaRPr lang="en-US" sz="580" dirty="0"/>
          </a:p>
        </p:txBody>
      </p:sp>
      <p:sp>
        <p:nvSpPr>
          <p:cNvPr id="46" name="Shape 44"/>
          <p:cNvSpPr/>
          <p:nvPr/>
        </p:nvSpPr>
        <p:spPr>
          <a:xfrm>
            <a:off x="1143000" y="4398264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15110E"/>
          </a:solidFill>
          <a:ln w="9525">
            <a:solidFill>
              <a:srgbClr val="43382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43000" y="43982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acuerdo</a:t>
            </a:r>
            <a:endParaRPr lang="en-US" sz="58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8,5%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2240280" y="4398264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76B729"/>
          </a:solidFill>
          <a:ln w="9525">
            <a:solidFill>
              <a:srgbClr val="76B72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240280" y="43982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1410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Totalmente de acuerdo</a:t>
            </a:r>
            <a:endParaRPr lang="en-US" sz="58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1410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10%</a:t>
            </a:r>
            <a:endParaRPr lang="en-US" sz="580" dirty="0"/>
          </a:p>
        </p:txBody>
      </p:sp>
      <p:sp>
        <p:nvSpPr>
          <p:cNvPr id="50" name="Shape 48"/>
          <p:cNvSpPr/>
          <p:nvPr/>
        </p:nvSpPr>
        <p:spPr>
          <a:xfrm>
            <a:off x="1051560" y="4892040"/>
            <a:ext cx="2286000" cy="1261872"/>
          </a:xfrm>
          <a:prstGeom prst="roundRect">
            <a:avLst>
              <a:gd name="adj" fmla="val 5797"/>
            </a:avLst>
          </a:prstGeom>
          <a:solidFill>
            <a:srgbClr val="1D1713"/>
          </a:solidFill>
          <a:ln w="9525">
            <a:solidFill>
              <a:srgbClr val="4C7A2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43000" y="4983480"/>
            <a:ext cx="219456" cy="219456"/>
          </a:xfrm>
          <a:prstGeom prst="ellipse">
            <a:avLst/>
          </a:prstGeom>
          <a:solidFill>
            <a:srgbClr val="3B3129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143000" y="4983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1435608" y="494690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personal muestra iniciativa para mejorar el servicio.</a:t>
            </a:r>
            <a:endParaRPr lang="en-US" sz="660" dirty="0"/>
          </a:p>
        </p:txBody>
      </p:sp>
      <p:sp>
        <p:nvSpPr>
          <p:cNvPr id="54" name="Shape 52"/>
          <p:cNvSpPr/>
          <p:nvPr/>
        </p:nvSpPr>
        <p:spPr>
          <a:xfrm>
            <a:off x="1143000" y="5404104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15110E"/>
          </a:solidFill>
          <a:ln w="9525">
            <a:solidFill>
              <a:srgbClr val="43382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143000" y="54041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Totalmente en desacuerdo</a:t>
            </a:r>
            <a:endParaRPr lang="en-US" sz="58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4%</a:t>
            </a:r>
            <a:endParaRPr lang="en-US" sz="580" dirty="0"/>
          </a:p>
        </p:txBody>
      </p:sp>
      <p:sp>
        <p:nvSpPr>
          <p:cNvPr id="56" name="Shape 54"/>
          <p:cNvSpPr/>
          <p:nvPr/>
        </p:nvSpPr>
        <p:spPr>
          <a:xfrm>
            <a:off x="2240280" y="5404104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15110E"/>
          </a:solidFill>
          <a:ln w="9525">
            <a:solidFill>
              <a:srgbClr val="43382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240280" y="54041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desacuerdo</a:t>
            </a:r>
            <a:endParaRPr lang="en-US" sz="58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6,5%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1143000" y="5769864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0097CE"/>
          </a:solidFill>
          <a:ln w="9525">
            <a:solidFill>
              <a:srgbClr val="0097C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143000" y="57698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1410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 acuerdo</a:t>
            </a:r>
            <a:endParaRPr lang="en-US" sz="58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1410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8,5%</a:t>
            </a:r>
            <a:endParaRPr lang="en-US" sz="580" dirty="0"/>
          </a:p>
        </p:txBody>
      </p:sp>
      <p:sp>
        <p:nvSpPr>
          <p:cNvPr id="60" name="Shape 58"/>
          <p:cNvSpPr/>
          <p:nvPr/>
        </p:nvSpPr>
        <p:spPr>
          <a:xfrm>
            <a:off x="2240280" y="5769864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15110E"/>
          </a:solidFill>
          <a:ln w="9525">
            <a:solidFill>
              <a:srgbClr val="43382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240280" y="57698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Totalmente de acuerdo</a:t>
            </a:r>
            <a:endParaRPr lang="en-US" sz="58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</a:t>
            </a:r>
            <a:endParaRPr lang="en-US" sz="580" dirty="0"/>
          </a:p>
        </p:txBody>
      </p:sp>
      <p:sp>
        <p:nvSpPr>
          <p:cNvPr id="62" name="Shape 60"/>
          <p:cNvSpPr/>
          <p:nvPr/>
        </p:nvSpPr>
        <p:spPr>
          <a:xfrm>
            <a:off x="3200400" y="3246120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20040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200400" y="4114800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20040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423160" y="2267712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42316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160520" y="1618488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160520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4663440" y="1600200"/>
            <a:ext cx="2651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Criterio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ítems están agrupados en los 4 criterios.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4160520" y="2459736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160520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4663440" y="2441448"/>
            <a:ext cx="2651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Toca una opción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pinta del color de la respuesta. Puedes cambiarla tocando otra.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4160520" y="3300984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16052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4663440" y="3282696"/>
            <a:ext cx="2651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Marcador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Suma en vivo tu resultado parcial.</a:t>
            </a:r>
            <a:endParaRPr lang="en-US" sz="1250" dirty="0"/>
          </a:p>
        </p:txBody>
      </p:sp>
      <p:sp>
        <p:nvSpPr>
          <p:cNvPr id="77" name="Text 75"/>
          <p:cNvSpPr txBox="1"/>
          <p:nvPr/>
        </p:nvSpPr>
        <p:spPr>
          <a:xfrm>
            <a:off x="75895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D48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Los 10 ítems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7589520" y="1975104"/>
            <a:ext cx="146304" cy="146304"/>
          </a:xfrm>
          <a:prstGeom prst="ellipse">
            <a:avLst/>
          </a:prstGeom>
          <a:solidFill>
            <a:srgbClr val="0097CE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7818120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Atención y trato</a:t>
            </a:r>
            <a:endParaRPr lang="en-US" sz="1150" dirty="0"/>
          </a:p>
        </p:txBody>
      </p:sp>
      <p:sp>
        <p:nvSpPr>
          <p:cNvPr id="80" name="Text 78"/>
          <p:cNvSpPr txBox="1"/>
          <p:nvPr/>
        </p:nvSpPr>
        <p:spPr>
          <a:xfrm>
            <a:off x="7818120" y="21762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Trato cordial, respetuoso y con disposición para ayudar.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Iniciativa para mejorar el servicio.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7589520" y="3017520"/>
            <a:ext cx="146304" cy="146304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7818120" y="2962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Tiempo de respuesta</a:t>
            </a:r>
            <a:endParaRPr lang="en-US" sz="1150" dirty="0"/>
          </a:p>
        </p:txBody>
      </p:sp>
      <p:sp>
        <p:nvSpPr>
          <p:cNvPr id="83" name="Text 81"/>
          <p:cNvSpPr txBox="1"/>
          <p:nvPr/>
        </p:nvSpPr>
        <p:spPr>
          <a:xfrm>
            <a:off x="7818120" y="3218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El tiempo de respuesta a mis solicitudes es adecuado.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Cumple respuestas y soluciones en los plazos establecidos.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7589520" y="4059936"/>
            <a:ext cx="146304" cy="146304"/>
          </a:xfrm>
          <a:prstGeom prst="ellipse">
            <a:avLst/>
          </a:prstGeom>
          <a:solidFill>
            <a:srgbClr val="9085E9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7818120" y="4005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Comunicación</a:t>
            </a:r>
            <a:endParaRPr lang="en-US" sz="1150" dirty="0"/>
          </a:p>
        </p:txBody>
      </p:sp>
      <p:sp>
        <p:nvSpPr>
          <p:cNvPr id="86" name="Text 84"/>
          <p:cNvSpPr txBox="1"/>
          <p:nvPr/>
        </p:nvSpPr>
        <p:spPr>
          <a:xfrm>
            <a:off x="7818120" y="42611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Comunica a tiempo y por los canales adecuados.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Es transparente: explica decisiones y cambios.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7589520" y="5102352"/>
            <a:ext cx="146304" cy="146304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7818120" y="5047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Calidad de servicio</a:t>
            </a:r>
            <a:endParaRPr lang="en-US" sz="1150" dirty="0"/>
          </a:p>
        </p:txBody>
      </p:sp>
      <p:sp>
        <p:nvSpPr>
          <p:cNvPr id="89" name="Text 87"/>
          <p:cNvSpPr txBox="1"/>
          <p:nvPr/>
        </p:nvSpPr>
        <p:spPr>
          <a:xfrm>
            <a:off x="7818120" y="53035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Cumple lo esperado según los requerimientos definidos.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Sus entregables requieren pocas o ninguna corrección.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Sus soluciones son correctas, confiables y se mantienen.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Demuestra conocimiento y dominio de sus procesos.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4160520" y="4206240"/>
            <a:ext cx="3154680" cy="1691640"/>
          </a:xfrm>
          <a:prstGeom prst="roundRect">
            <a:avLst>
              <a:gd name="adj" fmla="val 5405"/>
            </a:avLst>
          </a:prstGeom>
          <a:solidFill>
            <a:srgbClr val="F2F8EA"/>
          </a:solidFill>
          <a:ln w="9525">
            <a:solidFill>
              <a:srgbClr val="C9E2A8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343400" y="433425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C7A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TIP</a:t>
            </a:r>
            <a:endParaRPr lang="en-US" sz="950" dirty="0"/>
          </a:p>
        </p:txBody>
      </p:sp>
      <p:sp>
        <p:nvSpPr>
          <p:cNvPr id="92" name="Text 90"/>
          <p:cNvSpPr txBox="1"/>
          <p:nvPr/>
        </p:nvSpPr>
        <p:spPr>
          <a:xfrm>
            <a:off x="4343400" y="4590288"/>
            <a:ext cx="27889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 con honestidad. Si marcas «En desacuerdo» o «Totalmente en desacuerdo», en el paso 3 se te pedirá qué debe mejorar el área en ese punto.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9085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08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Paso 3 · Sugerencias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tres preguntas son obligatorias. Tus respuestas aparecen tal cual en la presentación de resultados del área.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0014" y="6446520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7" name="Shape 5"/>
          <p:cNvSpPr/>
          <p:nvPr/>
        </p:nvSpPr>
        <p:spPr>
          <a:xfrm>
            <a:off x="637266" y="6491424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8" name="Shape 6"/>
          <p:cNvSpPr/>
          <p:nvPr/>
        </p:nvSpPr>
        <p:spPr>
          <a:xfrm>
            <a:off x="755435" y="6535146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· Encuesta de satisfacción cliente interno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1463040"/>
            <a:ext cx="2743200" cy="4754880"/>
          </a:xfrm>
          <a:prstGeom prst="roundRect">
            <a:avLst>
              <a:gd name="adj" fmla="val 11333"/>
            </a:avLst>
          </a:prstGeom>
          <a:solidFill>
            <a:srgbClr val="0E0C0A"/>
          </a:solidFill>
          <a:ln w="9525">
            <a:solidFill>
              <a:srgbClr val="3A30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1545336"/>
            <a:ext cx="2578608" cy="4590288"/>
          </a:xfrm>
          <a:prstGeom prst="roundRect">
            <a:avLst>
              <a:gd name="adj" fmla="val 9220"/>
            </a:avLst>
          </a:prstGeom>
          <a:solidFill>
            <a:srgbClr val="15110E"/>
          </a:solidFill>
          <a:ln/>
        </p:spPr>
      </p:sp>
      <p:sp>
        <p:nvSpPr>
          <p:cNvPr id="13" name="Shape 11"/>
          <p:cNvSpPr/>
          <p:nvPr/>
        </p:nvSpPr>
        <p:spPr>
          <a:xfrm>
            <a:off x="990366" y="1709928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7618" y="1754832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5787" y="1798554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16" name="Shape 14"/>
          <p:cNvSpPr/>
          <p:nvPr/>
        </p:nvSpPr>
        <p:spPr>
          <a:xfrm>
            <a:off x="2423160" y="1664208"/>
            <a:ext cx="886968" cy="256032"/>
          </a:xfrm>
          <a:prstGeom prst="roundRect">
            <a:avLst>
              <a:gd name="adj" fmla="val 50000"/>
            </a:avLst>
          </a:prstGeom>
          <a:solidFill>
            <a:srgbClr val="15110E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05456" y="1760220"/>
            <a:ext cx="64008" cy="64008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606040" y="16642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juan.perez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05256" y="2057400"/>
            <a:ext cx="2578608" cy="0"/>
          </a:xfrm>
          <a:prstGeom prst="line">
            <a:avLst/>
          </a:prstGeom>
          <a:noFill/>
          <a:ln w="9525">
            <a:solidFill>
              <a:srgbClr val="2C24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22128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INTERNO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7F2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Nueva encuesta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2194560"/>
            <a:ext cx="777240" cy="420624"/>
          </a:xfrm>
          <a:prstGeom prst="roundRect">
            <a:avLst>
              <a:gd name="adj" fmla="val 17391"/>
            </a:avLst>
          </a:prstGeom>
          <a:solidFill>
            <a:srgbClr val="221B16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60320" y="222199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2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89,0 %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243230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10/10 ítems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1209294" y="2761488"/>
            <a:ext cx="256032" cy="256032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09294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410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035808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1780794" y="2761488"/>
            <a:ext cx="256032" cy="256032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780794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410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1623060" y="3035808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Evaluación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2352294" y="2761488"/>
            <a:ext cx="256032" cy="256032"/>
          </a:xfrm>
          <a:prstGeom prst="ellipse">
            <a:avLst/>
          </a:prstGeom>
          <a:solidFill>
            <a:srgbClr val="241D18"/>
          </a:solidFill>
          <a:ln w="22225">
            <a:solidFill>
              <a:srgbClr val="EF7C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52294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2194560" y="3035808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7F2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923794" y="2761488"/>
            <a:ext cx="256032" cy="256032"/>
          </a:xfrm>
          <a:prstGeom prst="ellipse">
            <a:avLst/>
          </a:prstGeom>
          <a:solidFill>
            <a:srgbClr val="241D18"/>
          </a:solidFill>
          <a:ln w="12700">
            <a:solidFill>
              <a:srgbClr val="4338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923794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9A8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2766060" y="3035808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</a:t>
            </a:r>
            <a:endParaRPr lang="en-US" sz="6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2918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aspectos valoras más del servicio?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1051560" y="347472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0F0C0A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124712" y="349300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disposición para ayudar en campaña…</a:t>
            </a:r>
            <a:endParaRPr lang="en-US" sz="68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38404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aspectos debería mejorar?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1051560" y="402336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0F0C0A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24712" y="404164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Avisar con más tiempo los cambios…</a:t>
            </a:r>
            <a:endParaRPr lang="en-US" sz="68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43891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¿Sugerencia para mejorar la coordinación?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1051560" y="457200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0F0C0A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24712" y="459028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Reunión semanal corta de programación…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1051560" y="4956048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38200E"/>
          </a:solidFill>
          <a:ln w="9525">
            <a:solidFill>
              <a:srgbClr val="80461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24712" y="4956048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F8B6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Marcaste desacuerdo en 1 ítem: indica qué debe mejorar.</a:t>
            </a:r>
            <a:endParaRPr lang="en-US" sz="620" dirty="0"/>
          </a:p>
        </p:txBody>
      </p:sp>
      <p:sp>
        <p:nvSpPr>
          <p:cNvPr id="48" name="Text 46"/>
          <p:cNvSpPr txBox="1"/>
          <p:nvPr/>
        </p:nvSpPr>
        <p:spPr>
          <a:xfrm>
            <a:off x="1051560" y="53492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" dirty="0">
                <a:solidFill>
                  <a:srgbClr val="F7F2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Ítem 3 · En desacuerdo</a:t>
            </a:r>
            <a:endParaRPr lang="en-US" sz="660" dirty="0"/>
          </a:p>
          <a:p>
            <a:pPr marL="0" indent="0">
              <a:buNone/>
            </a:pPr>
            <a:r>
              <a:rPr lang="en-US" sz="660" dirty="0">
                <a:solidFill>
                  <a:srgbClr val="A89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debe mejorar el área en este punto?</a:t>
            </a:r>
            <a:endParaRPr lang="en-US" sz="660" dirty="0"/>
          </a:p>
        </p:txBody>
      </p:sp>
      <p:sp>
        <p:nvSpPr>
          <p:cNvPr id="49" name="Shape 47"/>
          <p:cNvSpPr/>
          <p:nvPr/>
        </p:nvSpPr>
        <p:spPr>
          <a:xfrm>
            <a:off x="1051560" y="5669280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0F0C0A"/>
          </a:solidFill>
          <a:ln w="9525">
            <a:solidFill>
              <a:srgbClr val="3B312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124712" y="566928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D6CA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Responder las solicitudes en 24 h…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3200400" y="3493008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20040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0" y="4041648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20040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00400" y="4590288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200400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00400" y="5678424"/>
            <a:ext cx="274320" cy="274320"/>
          </a:xfrm>
          <a:prstGeom prst="ellipse">
            <a:avLst/>
          </a:prstGeom>
          <a:solidFill>
            <a:srgbClr val="FFD400"/>
          </a:solidFill>
          <a:ln w="19050">
            <a:solidFill>
              <a:srgbClr val="15110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200400" y="5678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160520" y="1618488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160520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4663440" y="1600200"/>
            <a:ext cx="3337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Aspectos valorados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el área hace bien y quieres que mantenga.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4160520" y="2551176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16052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4663440" y="2532888"/>
            <a:ext cx="3337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Aspectos a mejorar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el área debería cambiar o reforzar.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4160520" y="3483864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160520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4663440" y="3465576"/>
            <a:ext cx="3337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Coordinación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idea concreta para trabajar mejor entre tu área y la evaluada.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4160520" y="4416552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160520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4663440" y="4398264"/>
            <a:ext cx="3337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Mejora por ítem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Aparece solo si marcaste «En desacuerdo» o «Totalmente en desacuerdo». Es obligatoria para cada uno de esos ítems.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8321040" y="160020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2F8EA"/>
          </a:solidFill>
          <a:ln w="9525">
            <a:solidFill>
              <a:srgbClr val="C9E2A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503920" y="17282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C7A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ESCRIBE ÚTIL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8503920" y="1984248"/>
            <a:ext cx="29718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 hechos concretos: qué pasó, cuándo y qué </a:t>
            </a:r>
            <a:r>
              <a:rPr lang="en-US" sz="1200" dirty="0" err="1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esperas</a:t>
            </a: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b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1200" dirty="0" err="1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</a:t>
            </a: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</a:t>
            </a:r>
            <a:b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«Los reportes llegan después de las 10 a. m.» ayuda más que «son lentos».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321040" y="352044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FDF1E8"/>
          </a:solidFill>
          <a:ln w="9525">
            <a:solidFill>
              <a:srgbClr val="F3C6A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503920" y="364845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B945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RESPETO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8503920" y="3904488"/>
            <a:ext cx="2971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Opina sobre el servicio y los procesos, no sobre personas. Evita nombres y comentarios personales.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08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Paso 4 · Revisa y registra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resumen muestra tu resultado y el gráfico por criterio. Si todo está bien, registra la encuesta.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0014" y="6446520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7" name="Shape 5"/>
          <p:cNvSpPr/>
          <p:nvPr/>
        </p:nvSpPr>
        <p:spPr>
          <a:xfrm>
            <a:off x="637266" y="6491424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8" name="Shape 6"/>
          <p:cNvSpPr/>
          <p:nvPr/>
        </p:nvSpPr>
        <p:spPr>
          <a:xfrm>
            <a:off x="755435" y="6535146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· Encuesta de satisfacción cliente interno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FAF6F1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1755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8A7D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EVALUACIÓN CRITERIO · EJEMPLO</a:t>
            </a:r>
            <a:endParaRPr lang="en-US" sz="9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40080" y="2011680"/>
          <a:ext cx="34290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114800" y="22402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8A7D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RESULTADO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114800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4C7A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89,0 %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4114800" y="3108960"/>
            <a:ext cx="1463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Área evaluada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Evaluador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PDC - Producción Arándano · Jefe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Campaña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Arándano 2026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7240" y="5257800"/>
            <a:ext cx="4663440" cy="502920"/>
          </a:xfrm>
          <a:prstGeom prst="roundRect">
            <a:avLst>
              <a:gd name="adj" fmla="val 18182"/>
            </a:avLst>
          </a:prstGeom>
          <a:solidFill>
            <a:srgbClr val="76B72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5257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10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 Registrar encuesta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80760" y="1618488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080760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160020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Revisa los datos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Área evaluada, evaluador, campaña, fecha y el puntaje de cada criterio.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080760" y="2532888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08076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251460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 falta algo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Aparece una lista naranja con lo que falta y el botón queda apagado. Toca el paso correspondiente y complétalo.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080760" y="3447288"/>
            <a:ext cx="329184" cy="329184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080760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2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583680" y="342900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Toca «Registrar encuesta»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Necesitas internet en este momento. Verás el mensaje «Encuesta … registrada: 89,0 %» y la app te lleva a Resultados.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080760" y="452628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DF1E8"/>
          </a:solidFill>
          <a:ln w="9525">
            <a:solidFill>
              <a:srgbClr val="F3C6A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63640" y="4654296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B945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DESPUÉS DE REGISTRAR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263640" y="4910328"/>
            <a:ext cx="5212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encuesta ya no se puede editar desde el celular. Si te equivocaste (área, planta o respuestas), avisa a Ingeniería de Procesos: el administrador la anula y la vuelves a llenar.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0097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08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Consulta los resultados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 pestaña Resultados ves cómo te evaluaron y cómo evaluaron a otras áreas. Se abre en el año actual.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0014" y="6446520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7" name="Shape 5"/>
          <p:cNvSpPr/>
          <p:nvPr/>
        </p:nvSpPr>
        <p:spPr>
          <a:xfrm>
            <a:off x="637266" y="6491424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8" name="Shape 6"/>
          <p:cNvSpPr/>
          <p:nvPr/>
        </p:nvSpPr>
        <p:spPr>
          <a:xfrm>
            <a:off x="755435" y="6535146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· Encuesta de satisfacción cliente interno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AF6F1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solidFill>
            <a:srgbClr val="0097C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18470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Filtros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232257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Cultivo, año, campaña, fechas y área evaluada. El número entre paréntesis es la cantidad de encuestas.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164592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AF6F1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98848" y="1847088"/>
            <a:ext cx="384048" cy="384048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9884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18470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Indicadores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98848" y="232257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Puntaje ponderado, n° de encuestas, criterio más bajo y periodo evaluado.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0" y="164592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AF6F1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47888" y="1847088"/>
            <a:ext cx="384048" cy="384048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478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0" y="18470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Matriz de evaluaciones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47888" y="232257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 de cada grupo evaluador, separado por planta (ej. «PDC - Producción Arándano»).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218688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AF6F1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3419856"/>
            <a:ext cx="384048" cy="384048"/>
          </a:xfrm>
          <a:prstGeom prst="ellipse">
            <a:avLst/>
          </a:prstGeom>
          <a:solidFill>
            <a:srgbClr val="9085E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9808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34198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Resultado consolidado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389534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Gráfico radar, barras por criterio y la tabla de aspectos valorados, por mejorar y recomendaciones.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97680" y="3218688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AF6F1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98848" y="3419856"/>
            <a:ext cx="384048" cy="384048"/>
          </a:xfrm>
          <a:prstGeom prst="ellipse">
            <a:avLst/>
          </a:prstGeom>
          <a:solidFill>
            <a:srgbClr val="5D483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98848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34198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Detalle por planta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498848" y="389534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tarjeta por grupo evaluador con su propio radar y sus sugerencias.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46720" y="3218688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AF6F1"/>
          </a:solidFill>
          <a:ln w="9525">
            <a:solidFill>
              <a:srgbClr val="E4DA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7888" y="3419856"/>
            <a:ext cx="384048" cy="384048"/>
          </a:xfrm>
          <a:prstGeom prst="ellipse">
            <a:avLst/>
          </a:prstGeom>
          <a:solidFill>
            <a:srgbClr val="B9451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47888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778240" y="34198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Histórico por campaña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247888" y="389534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evolucionó el puntaje de cada área de una campaña a otra.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818120" y="48920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EAF6FB"/>
          </a:solidFill>
          <a:ln w="9525">
            <a:solidFill>
              <a:srgbClr val="B5DD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001000" y="50200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0A6F9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SEMÁFORO EN PANTALLA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8001000" y="527608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Verde: 85 % o más · Naranja: de 70 % a 84,9 % · Rojo: menos de 70 %.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B24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Preguntas frecuentes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52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algo no funciona como esperas, revisa aquí primero.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60014" y="6446520"/>
            <a:ext cx="177253" cy="177253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5" name="Shape 3"/>
          <p:cNvSpPr/>
          <p:nvPr/>
        </p:nvSpPr>
        <p:spPr>
          <a:xfrm>
            <a:off x="637266" y="6491424"/>
            <a:ext cx="132349" cy="132349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6" name="Shape 4"/>
          <p:cNvSpPr/>
          <p:nvPr/>
        </p:nvSpPr>
        <p:spPr>
          <a:xfrm>
            <a:off x="755435" y="6535146"/>
            <a:ext cx="177253" cy="177253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 · Encuesta de satisfacción cliente interno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7D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438912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Situación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8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Qué hacer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8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42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No veo la pestaña «Encuesta»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 usuario es de solo consulta. Pide a Ingeniería de Procesos que lo cambie a captura.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42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No aparece el área que debo evaluar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está asignada a tu usuario. Pide a Ingeniería de Procesos que la agregue.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42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El área evaluadora está bloqueada o no es la mía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 tu área asignada y no se cambia desde la encuesta. Si es incorrecta, avisa a Ingeniería de Procesos.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42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«Continuar» no avanza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Lee el mensaje rojo: indica exactamente qué falta (un campo, un ítem o una sugerencia).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42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Se cortó la señal o cerré la app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Vuelve a abrir Encuesta: tu borrador sigue en el celular. Para registrar necesitas internet.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42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Registré con un error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se edita. Avisa a Ingeniería de Procesos: el administrador la anula y la llenas de nuevo.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42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Olvidé mi contraseña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4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Ingeniería de Procesos te genera una nueva contraseña temporal.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ne Drive - Ronald Haya\OneDrive - AGRICOLA DON RICARDO\Escritorio\ADR\1.- Agritracer_Power_Apps\SITIO_AGRITRACER\img\fond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08">
              <a:alpha val="8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11945" y="685800"/>
            <a:ext cx="422031" cy="422031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097CE"/>
          </a:solidFill>
          <a:ln/>
        </p:spPr>
      </p:sp>
      <p:sp>
        <p:nvSpPr>
          <p:cNvPr id="5" name="Shape 2"/>
          <p:cNvSpPr/>
          <p:nvPr/>
        </p:nvSpPr>
        <p:spPr>
          <a:xfrm>
            <a:off x="1033975" y="792714"/>
            <a:ext cx="315116" cy="315116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6" name="Shape 3"/>
          <p:cNvSpPr/>
          <p:nvPr/>
        </p:nvSpPr>
        <p:spPr>
          <a:xfrm>
            <a:off x="1315329" y="896815"/>
            <a:ext cx="422031" cy="422031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76B7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500" dirty="0">
                <a:solidFill>
                  <a:srgbClr val="FFD2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28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Una encuesta en 5 minutos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0097C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Ingresa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C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tu usuario a Integra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520440" y="3017520"/>
            <a:ext cx="566928" cy="566928"/>
          </a:xfrm>
          <a:prstGeom prst="ellipse">
            <a:avLst/>
          </a:prstGeom>
          <a:solidFill>
            <a:srgbClr val="EF7C3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2044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Abre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C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Satisfacción del cliente interno → Encuesta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3017520"/>
            <a:ext cx="566928" cy="566928"/>
          </a:xfrm>
          <a:prstGeom prst="ellipse">
            <a:avLst/>
          </a:prstGeom>
          <a:solidFill>
            <a:srgbClr val="76B72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21792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Responde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C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datos, 10 ítems y sugerencias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915400" y="3017520"/>
            <a:ext cx="566928" cy="566928"/>
          </a:xfrm>
          <a:prstGeom prst="ellipse">
            <a:avLst/>
          </a:prstGeom>
          <a:solidFill>
            <a:srgbClr val="B7A99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1540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10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91540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Registra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91540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C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revisa tus resultados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22960" y="5166360"/>
            <a:ext cx="868680" cy="64008"/>
          </a:xfrm>
          <a:prstGeom prst="rect">
            <a:avLst/>
          </a:prstGeom>
          <a:solidFill>
            <a:srgbClr val="0097CE"/>
          </a:solidFill>
          <a:ln/>
        </p:spPr>
      </p:sp>
      <p:sp>
        <p:nvSpPr>
          <p:cNvPr id="26" name="Shape 23"/>
          <p:cNvSpPr/>
          <p:nvPr/>
        </p:nvSpPr>
        <p:spPr>
          <a:xfrm>
            <a:off x="1691640" y="5166360"/>
            <a:ext cx="868680" cy="64008"/>
          </a:xfrm>
          <a:prstGeom prst="rect">
            <a:avLst/>
          </a:prstGeom>
          <a:solidFill>
            <a:srgbClr val="EF7C3B"/>
          </a:solidFill>
          <a:ln/>
        </p:spPr>
      </p:sp>
      <p:sp>
        <p:nvSpPr>
          <p:cNvPr id="27" name="Shape 24"/>
          <p:cNvSpPr/>
          <p:nvPr/>
        </p:nvSpPr>
        <p:spPr>
          <a:xfrm>
            <a:off x="2560320" y="5166360"/>
            <a:ext cx="868680" cy="64008"/>
          </a:xfrm>
          <a:prstGeom prst="rect">
            <a:avLst/>
          </a:prstGeom>
          <a:solidFill>
            <a:srgbClr val="76B72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22960" y="5394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¿Dudas o cambios en tu usuario?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D8CCBF"/>
                </a:solidFill>
                <a:latin typeface="Segoe UI" pitchFamily="34" charset="0"/>
                <a:cs typeface="Segoe UI" pitchFamily="34" charset="-120"/>
                <a:hlinkClick r:id="rId4"/>
              </a:rPr>
              <a:t>rhaya@adr.com.pe</a:t>
            </a:r>
            <a:endParaRPr lang="en-US" sz="1300" dirty="0">
              <a:solidFill>
                <a:srgbClr val="D8CCBF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D8CCBF"/>
                </a:solidFill>
                <a:latin typeface="Segoe UI" pitchFamily="34" charset="0"/>
                <a:cs typeface="Segoe UI" pitchFamily="34" charset="-120"/>
              </a:rPr>
              <a:t>Analista</a:t>
            </a:r>
            <a:r>
              <a:rPr lang="en-US" sz="1300" dirty="0">
                <a:solidFill>
                  <a:srgbClr val="D8CCBF"/>
                </a:solidFill>
                <a:latin typeface="Segoe UI" pitchFamily="34" charset="0"/>
                <a:cs typeface="Segoe UI" pitchFamily="34" charset="-120"/>
              </a:rPr>
              <a:t> de </a:t>
            </a:r>
            <a:r>
              <a:rPr lang="en-US" sz="1300" dirty="0" err="1">
                <a:solidFill>
                  <a:srgbClr val="D8CCBF"/>
                </a:solidFill>
                <a:latin typeface="Segoe UI" pitchFamily="34" charset="0"/>
                <a:cs typeface="Segoe UI" pitchFamily="34" charset="-120"/>
              </a:rPr>
              <a:t>Gestión</a:t>
            </a:r>
            <a:r>
              <a:rPr lang="en-US" sz="1300" dirty="0">
                <a:solidFill>
                  <a:srgbClr val="D8CCBF"/>
                </a:solidFill>
                <a:latin typeface="Segoe UI" pitchFamily="34" charset="0"/>
                <a:cs typeface="Segoe UI" pitchFamily="34" charset="-120"/>
              </a:rPr>
              <a:t> de </a:t>
            </a:r>
            <a:r>
              <a:rPr lang="en-US" sz="1300" dirty="0" err="1">
                <a:solidFill>
                  <a:srgbClr val="D8CCBF"/>
                </a:solidFill>
                <a:latin typeface="Segoe UI" pitchFamily="34" charset="0"/>
                <a:cs typeface="Segoe UI" pitchFamily="34" charset="-120"/>
              </a:rPr>
              <a:t>Procesos</a:t>
            </a:r>
            <a:endParaRPr lang="en-US" sz="1300" dirty="0">
              <a:solidFill>
                <a:srgbClr val="D8CCBF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D8CCBF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2666</Words>
  <Application>Microsoft Office PowerPoint</Application>
  <PresentationFormat>Panorámica</PresentationFormat>
  <Paragraphs>468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Segoe UI</vt:lpstr>
      <vt:lpstr>Segoe UI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Instructivo · Encuesta de satisfacción cliente interno</dc:title>
  <dc:subject>PptxGenJS Presentation</dc:subject>
  <dc:creator>Ingeniería de Procesos · Don Ricardo</dc:creator>
  <cp:lastModifiedBy>Ronald Haya</cp:lastModifiedBy>
  <cp:revision>1</cp:revision>
  <dcterms:created xsi:type="dcterms:W3CDTF">2026-09-23T22:46:48Z</dcterms:created>
  <dcterms:modified xsi:type="dcterms:W3CDTF">2026-09-28T18:32:56Z</dcterms:modified>
</cp:coreProperties>
</file>